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ublic Sans Bold" charset="1" panose="00000000000000000000"/>
      <p:regular r:id="rId22"/>
    </p:embeddedFont>
    <p:embeddedFont>
      <p:font typeface="Public Sans" charset="1" panose="00000000000000000000"/>
      <p:regular r:id="rId23"/>
    </p:embeddedFont>
    <p:embeddedFont>
      <p:font typeface="The Youngest Serif" charset="1" panose="000005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8724900"/>
            <a:ext cx="7858125" cy="1562100"/>
            <a:chOff x="0" y="0"/>
            <a:chExt cx="1397000" cy="277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7000" cy="277707"/>
            </a:xfrm>
            <a:custGeom>
              <a:avLst/>
              <a:gdLst/>
              <a:ahLst/>
              <a:cxnLst/>
              <a:rect r="r" b="b" t="t" l="l"/>
              <a:pathLst>
                <a:path h="277707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4F5D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97000" cy="334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9875" y="0"/>
            <a:ext cx="7858125" cy="8724900"/>
            <a:chOff x="0" y="0"/>
            <a:chExt cx="1217429" cy="1351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7429" cy="1351715"/>
            </a:xfrm>
            <a:custGeom>
              <a:avLst/>
              <a:gdLst/>
              <a:ahLst/>
              <a:cxnLst/>
              <a:rect r="r" b="b" t="t" l="l"/>
              <a:pathLst>
                <a:path h="135171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2"/>
              <a:stretch>
                <a:fillRect l="0" t="-245" r="0" b="-24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5335" y="6563369"/>
            <a:ext cx="6877050" cy="3441700"/>
            <a:chOff x="0" y="0"/>
            <a:chExt cx="9169400" cy="458893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27306" y="-57150"/>
              <a:ext cx="8142094" cy="4646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By :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Ahm</a:t>
              </a: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ed Moatasem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Ali Mohab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Mohamed Darwish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Mohamed Tarek 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Assem aldurni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Under Supervision of </a:t>
              </a:r>
            </a:p>
            <a:p>
              <a:pPr algn="l">
                <a:lnSpc>
                  <a:spcPts val="3499"/>
                </a:lnSpc>
              </a:pPr>
              <a:r>
                <a:rPr lang="en-US" b="true" sz="2499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Dr. Ahmed Abdelsamea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1919432"/>
              <a:ext cx="775968" cy="775968"/>
            </a:xfrm>
            <a:custGeom>
              <a:avLst/>
              <a:gdLst/>
              <a:ahLst/>
              <a:cxnLst/>
              <a:rect r="r" b="b" t="t" l="l"/>
              <a:pathLst>
                <a:path h="775968" w="775968">
                  <a:moveTo>
                    <a:pt x="0" y="0"/>
                  </a:moveTo>
                  <a:lnTo>
                    <a:pt x="775968" y="0"/>
                  </a:lnTo>
                  <a:lnTo>
                    <a:pt x="775968" y="775967"/>
                  </a:lnTo>
                  <a:lnTo>
                    <a:pt x="0" y="775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72950" y="9298001"/>
            <a:ext cx="431482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30 </a:t>
            </a:r>
            <a:r>
              <a:rPr lang="en-US" sz="20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DECEMBER 2025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6750" y="666750"/>
            <a:ext cx="8324850" cy="5728337"/>
            <a:chOff x="0" y="0"/>
            <a:chExt cx="11099800" cy="76377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235578"/>
              <a:ext cx="11099800" cy="2402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 </a:t>
              </a:r>
              <a:r>
                <a:rPr lang="en-US" b="true" sz="2400">
                  <a:solidFill>
                    <a:srgbClr val="E0E1D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comparative study</a:t>
              </a: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of adaptive ant colony metaheuristic optimization methods applied to linear and nonlinear programming problems using numerical and simulation approaches.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2700" y="-57150"/>
              <a:ext cx="1108710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Optimization Research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700" y="1021292"/>
              <a:ext cx="11087100" cy="38809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</a:pPr>
              <a:r>
                <a:rPr lang="en-US" sz="11000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Ant Colony Optimization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348" y="8724900"/>
            <a:ext cx="7874473" cy="1562100"/>
            <a:chOff x="0" y="0"/>
            <a:chExt cx="2073935" cy="411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3935" cy="411417"/>
            </a:xfrm>
            <a:custGeom>
              <a:avLst/>
              <a:gdLst/>
              <a:ahLst/>
              <a:cxnLst/>
              <a:rect r="r" b="b" t="t" l="l"/>
              <a:pathLst>
                <a:path h="411417" w="2073935">
                  <a:moveTo>
                    <a:pt x="0" y="0"/>
                  </a:moveTo>
                  <a:lnTo>
                    <a:pt x="2073935" y="0"/>
                  </a:lnTo>
                  <a:lnTo>
                    <a:pt x="2073935" y="411417"/>
                  </a:lnTo>
                  <a:lnTo>
                    <a:pt x="0" y="411417"/>
                  </a:lnTo>
                  <a:close/>
                </a:path>
              </a:pathLst>
            </a:custGeom>
            <a:solidFill>
              <a:srgbClr val="E0E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73935" cy="468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34450" y="394598"/>
            <a:ext cx="8324850" cy="9955003"/>
            <a:chOff x="0" y="0"/>
            <a:chExt cx="11099800" cy="1327333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27133"/>
              <a:ext cx="11099800" cy="1154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2" indent="-259081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Ant Colony Optimization (ACO)</a:t>
              </a:r>
            </a:p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• Population-based metaheuristic inspired by collective foraging</a:t>
              </a:r>
            </a:p>
            <a:p>
              <a:pPr algn="l" marL="0" indent="0" lvl="0">
                <a:lnSpc>
                  <a:spcPts val="3600"/>
                </a:lnSpc>
              </a:pPr>
            </a:p>
            <a:p>
              <a:pPr algn="l" marL="518162" indent="-259081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Continuous ACO Challenges</a:t>
              </a:r>
            </a:p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• Parameter sensitivity • Discretization effects • Limited precision</a:t>
              </a:r>
            </a:p>
            <a:p>
              <a:pPr algn="l" marL="0" indent="0" lvl="0">
                <a:lnSpc>
                  <a:spcPts val="3600"/>
                </a:lnSpc>
              </a:pPr>
            </a:p>
            <a:p>
              <a:pPr algn="l" marL="518162" indent="-259081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This Project: Adaptive ACO (AACO) + Hybrid Framework</a:t>
              </a:r>
            </a:p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• Global exploration via AACO</a:t>
              </a:r>
            </a:p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• Fast local convergence via Sequential Quadratic Programming (SQP)</a:t>
              </a:r>
            </a:p>
            <a:p>
              <a:pPr algn="l" marL="0" indent="0" lvl="0">
                <a:lnSpc>
                  <a:spcPts val="3600"/>
                </a:lnSpc>
              </a:pPr>
            </a:p>
            <a:p>
              <a:pPr algn="l" marL="518162" indent="-259081" lvl="1">
                <a:lnSpc>
                  <a:spcPts val="3600"/>
                </a:lnSpc>
                <a:buFont typeface="Arial"/>
                <a:buChar char="•"/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Evaluation: 5D Rosenbrock &amp; Rastrigin over 30 independent runs</a:t>
              </a:r>
            </a:p>
            <a:p>
              <a:pPr algn="l" marL="0" indent="0" lvl="0">
                <a:lnSpc>
                  <a:spcPts val="3600"/>
                </a:lnSpc>
              </a:pPr>
              <a:r>
                <a:rPr lang="en-US" sz="2400">
                  <a:solidFill>
                    <a:srgbClr val="E0E1D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• Hybrid AACO+SQP achieves 10,000× better accuracy than pure SciPy</a:t>
              </a:r>
            </a:p>
            <a:p>
              <a:pPr algn="l" marL="0" indent="0" lvl="0">
                <a:lnSpc>
                  <a:spcPts val="36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1241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19"/>
                </a:lnSpc>
              </a:pPr>
              <a:r>
                <a:rPr lang="en-US" sz="6099" u="none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Abstract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932736" y="9058275"/>
            <a:ext cx="1664475" cy="895350"/>
          </a:xfrm>
          <a:custGeom>
            <a:avLst/>
            <a:gdLst/>
            <a:ahLst/>
            <a:cxnLst/>
            <a:rect r="r" b="b" t="t" l="l"/>
            <a:pathLst>
              <a:path h="895350" w="1664475">
                <a:moveTo>
                  <a:pt x="0" y="0"/>
                </a:moveTo>
                <a:lnTo>
                  <a:pt x="1664476" y="0"/>
                </a:lnTo>
                <a:lnTo>
                  <a:pt x="1664476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590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6348" y="0"/>
            <a:ext cx="7874473" cy="8724900"/>
            <a:chOff x="0" y="0"/>
            <a:chExt cx="1219962" cy="1351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962" cy="1351715"/>
            </a:xfrm>
            <a:custGeom>
              <a:avLst/>
              <a:gdLst/>
              <a:ahLst/>
              <a:cxnLst/>
              <a:rect r="r" b="b" t="t" l="l"/>
              <a:pathLst>
                <a:path h="1351715" w="1219962">
                  <a:moveTo>
                    <a:pt x="0" y="0"/>
                  </a:moveTo>
                  <a:lnTo>
                    <a:pt x="1219962" y="0"/>
                  </a:lnTo>
                  <a:lnTo>
                    <a:pt x="1219962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4"/>
              <a:stretch>
                <a:fillRect l="0" t="-350" r="0" b="-35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C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7159" y="511842"/>
            <a:ext cx="11833681" cy="92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Nonlinear Programming Background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68883" y="1841360"/>
            <a:ext cx="12758411" cy="782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Mathematical Problem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min f(x)  subject to:  g(x) ≤ 0,  h(x) = 0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The Challenge: Multiple Local Minima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Non-convex landscapes with many local optima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Performance depends on: initialization, search strategy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Classical Solvers (Local Methods)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Strong: Efficient local convergence, high precision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Weak: Poor global exploration, initialization-dependent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Our Approach: Combine global + local 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C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4492" y="601215"/>
            <a:ext cx="11179016" cy="76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Sequential Quadratic Programming (SQP)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6966" y="2226512"/>
            <a:ext cx="11534068" cy="736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How SQP Works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Solves via sequence of quadratic subproblems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Uses gradients &amp; Hessian approximations (quasi-Newton)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Strengths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Superlinear convergence near optimum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Industry standard (SciPy, MATLAB, industry)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Achieves machine-precision solutions (1e-10+)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Weaknesses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Sensitive to initial point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Trapped in local minima (multimodal problems)</a:t>
            </a:r>
          </a:p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Poor global exploration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1222" y="582420"/>
            <a:ext cx="11365555" cy="79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  <a:spcBef>
                <a:spcPct val="0"/>
              </a:spcBef>
            </a:pPr>
            <a:r>
              <a:rPr lang="en-US" sz="46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Adaptive Ant Colony Optimization (AACO)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2056" y="1761058"/>
            <a:ext cx="13876753" cy="773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Core Components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40 ants represent candidate solutions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Search space discretized into 60 bins/dimension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Pheromone matrix τ_{d,j} guides sampling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Adaptive Parameter Scheduling (Linear)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α(t): Pheromone influence → increases (exploits learned regions)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β(t): Heuristic influence → decreases (reduces random exploration)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ρ(t): Evaporation rate → increases (fine-tunes near optimum)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Timing Effect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Early: More exploration (low α, high β)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Late: More exploitation (high α, low β)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2578" y="582420"/>
            <a:ext cx="10682843" cy="79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  <a:spcBef>
                <a:spcPct val="0"/>
              </a:spcBef>
            </a:pPr>
            <a:r>
              <a:rPr lang="en-US" sz="46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AACO: Sampling Probability &amp; Updates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1521" y="1761058"/>
            <a:ext cx="14646218" cy="832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Sampling Probability for Bin Selection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p_{d,j} ∝ τ_{d,j}^α · η_{d,j}^β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τ_{d,j}: Pheromone learned from elite ants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η_{d,j}: Heuristic term (favors center bins)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Elite Selection &amp; Pheromone Deposit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Select top 15% ants each iteration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Elite deposit: τ_{d,j} ← τ_{d,j} + 1/f_best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Evaporate: τ_{d,j} ← (1-ρ)·τ_{d,j}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Stability Bounds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Clamp pheromone to [1e-6, 1e6]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  <a:r>
              <a:rPr lang="en-US" sz="337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• Prevents premature convergence to single region</a:t>
            </a:r>
          </a:p>
          <a:p>
            <a:pPr algn="ctr">
              <a:lnSpc>
                <a:spcPts val="472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225" y="666770"/>
            <a:ext cx="9898816" cy="3410585"/>
            <a:chOff x="0" y="0"/>
            <a:chExt cx="13198421" cy="45474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3198421" cy="3705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19"/>
                </a:lnSpc>
              </a:pPr>
              <a:r>
                <a:rPr lang="en-US" sz="6099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Hyb</a:t>
              </a:r>
              <a:r>
                <a:rPr lang="en-US" sz="6099" u="none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rid AACO–SQP Framework</a:t>
              </a:r>
            </a:p>
            <a:p>
              <a:pPr algn="l" marL="0" indent="0" lvl="0">
                <a:lnSpc>
                  <a:spcPts val="731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913082"/>
              <a:ext cx="110998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9875" y="0"/>
            <a:ext cx="7858125" cy="5143500"/>
            <a:chOff x="0" y="0"/>
            <a:chExt cx="1217429" cy="796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7429" cy="796863"/>
            </a:xfrm>
            <a:custGeom>
              <a:avLst/>
              <a:gdLst/>
              <a:ahLst/>
              <a:cxnLst/>
              <a:rect r="r" b="b" t="t" l="l"/>
              <a:pathLst>
                <a:path h="796863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2"/>
              <a:stretch>
                <a:fillRect l="-253" t="0" r="-25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29875" y="5143500"/>
            <a:ext cx="7858125" cy="5143500"/>
            <a:chOff x="0" y="0"/>
            <a:chExt cx="1217429" cy="796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7429" cy="796863"/>
            </a:xfrm>
            <a:custGeom>
              <a:avLst/>
              <a:gdLst/>
              <a:ahLst/>
              <a:cxnLst/>
              <a:rect r="r" b="b" t="t" l="l"/>
              <a:pathLst>
                <a:path h="796863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3"/>
              <a:stretch>
                <a:fillRect l="-253" t="0" r="-25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-382650" y="2760845"/>
            <a:ext cx="10639651" cy="627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Two-Phase Optimization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Phase 1 : AACO Global Exploration (150 iterations)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40 ants explore entire search space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Identify promising region → best solution x_AACO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Phase 2 : SQP Local Refinement (300 iterations)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Warm-start from x_AACO (not random!)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Deterministic convergence to high-precision optimum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Why It Works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AACO escape local optima → SQP refines to machine precision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Synergy: Robustness (AACO) + Accuracy (SQP)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558" y="627977"/>
            <a:ext cx="13072550" cy="134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</a:pPr>
            <a:r>
              <a:rPr lang="en-US" sz="4800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Experime</a:t>
            </a:r>
            <a:r>
              <a:rPr lang="en-US" sz="4800" u="none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ntal Setup &amp; Configuration</a:t>
            </a:r>
          </a:p>
          <a:p>
            <a:pPr algn="l" marL="0" indent="0" lvl="0">
              <a:lnSpc>
                <a:spcPts val="528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429875" y="0"/>
            <a:ext cx="7858125" cy="10287000"/>
            <a:chOff x="0" y="0"/>
            <a:chExt cx="1217429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742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663" t="0" r="-866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9403" y="1889092"/>
            <a:ext cx="9633347" cy="615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AACO Hyperparameters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Ants: 40 | Iterations: 150 | Bins/dim: 60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Elite fraction: 15% | Pheromone bounds: [1e-6, 1e6]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SQP Hyperparameters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Max iterations: 300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Gradient: Finite differences (ε = 1e-6)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Experimental Rigor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30 independent runs per method (statistical validation)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Fixed random seed: 42(reproducibility)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    • 2 benchmark problems: Rosenbrock &amp; Rastrigin (5D each)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8408" y="557213"/>
            <a:ext cx="1137118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Optimization Methods Compared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8598" y="2302642"/>
            <a:ext cx="14870805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Baseline Methods (SciPy Black-box Solvers)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1. SciPy SLSQP (random init)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2. SciPy L-BFGS-B (random init)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Pure ACO Method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3. Scratch AACO (global search only)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Hybrid Methods (Our Contributions)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4. AACO + Projected Gradient Descent (lightweight)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5. AACO + SQP (proposed method)</a:t>
            </a:r>
          </a:p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  → Uses industry-standard SQP for refinement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357" y="292378"/>
            <a:ext cx="8152053" cy="3410585"/>
            <a:chOff x="0" y="0"/>
            <a:chExt cx="10869405" cy="45474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0869405" cy="3705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19"/>
                </a:lnSpc>
              </a:pPr>
              <a:r>
                <a:rPr lang="en-US" sz="6099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Experime</a:t>
              </a:r>
              <a:r>
                <a:rPr lang="en-US" sz="6099" u="none">
                  <a:solidFill>
                    <a:srgbClr val="E0E1DD"/>
                  </a:solidFill>
                  <a:latin typeface="The Youngest Serif"/>
                  <a:ea typeface="The Youngest Serif"/>
                  <a:cs typeface="The Youngest Serif"/>
                  <a:sym typeface="The Youngest Serif"/>
                </a:rPr>
                <a:t>ntal Results: Accuracy (Mean ± Std)</a:t>
              </a:r>
            </a:p>
            <a:p>
              <a:pPr algn="l" marL="0" indent="0" lvl="0">
                <a:lnSpc>
                  <a:spcPts val="731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913082"/>
              <a:ext cx="10869405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68251" y="0"/>
            <a:ext cx="7858125" cy="5143500"/>
            <a:chOff x="0" y="0"/>
            <a:chExt cx="1217429" cy="796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7429" cy="796863"/>
            </a:xfrm>
            <a:custGeom>
              <a:avLst/>
              <a:gdLst/>
              <a:ahLst/>
              <a:cxnLst/>
              <a:rect r="r" b="b" t="t" l="l"/>
              <a:pathLst>
                <a:path h="796863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2"/>
              <a:stretch>
                <a:fillRect l="-253" t="0" r="-25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68251" y="5143500"/>
            <a:ext cx="7858125" cy="5143500"/>
            <a:chOff x="0" y="0"/>
            <a:chExt cx="1217429" cy="796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7429" cy="796863"/>
            </a:xfrm>
            <a:custGeom>
              <a:avLst/>
              <a:gdLst/>
              <a:ahLst/>
              <a:cxnLst/>
              <a:rect r="r" b="b" t="t" l="l"/>
              <a:pathLst>
                <a:path h="796863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3"/>
              <a:stretch>
                <a:fillRect l="-16620" t="0" r="-1662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-172797" y="2372063"/>
            <a:ext cx="12020783" cy="772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Rosenbrock Function (5D)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Hybrid AACO+SQP:  2.73×10⁻⁷ ± 1.00×10⁻⁷  [BEST]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Hybrid AACO+PGD:  2.00 ± 0.17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Scratch AACO:     3.97 ± 0.12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SciPy SLSQP:      1.18 ± 1.83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SciPy L-BFGS-B:   0.92 ± 1.69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Rastrigin Function (5D)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Hybrid AACO+SQP:  1.23 ± 0.43  [BEST]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Hybrid AACO+PGD:  1.23 ± 0.43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Scratch AACO:     7.11 ± 0.06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SciPy SLSQP:      32.83 ± 13.58</a:t>
            </a:r>
          </a:p>
          <a:p>
            <a:pPr algn="ctr">
              <a:lnSpc>
                <a:spcPts val="4077"/>
              </a:lnSpc>
              <a:spcBef>
                <a:spcPct val="0"/>
              </a:spcBef>
            </a:pPr>
            <a:r>
              <a:rPr lang="en-US" sz="3398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SciPy L-BFGS-B:   36.18 ± 11.52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0338" y="1284455"/>
            <a:ext cx="14545339" cy="840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C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nve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rg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ence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Pa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tte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rns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ACO Phase: 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eady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gl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ba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l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ex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p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lor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ation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(0-150 iter)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QP P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ha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se: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Rapid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ef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nement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(150-300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iter)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Hybrid reaches best values fastest &amp; c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ste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tly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Rob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u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stness (B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x Plot Analysis, 30 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u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)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Hybrid 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ACO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+SQP: L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w varian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ce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(σ &lt; 1.0)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Pu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 SciPy: H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igh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va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an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c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 (σ ≈ 11-13)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  → SciPy depends he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vi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l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y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on random ini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al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ization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Computati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n Tim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Hy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br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id AACO+SQP: ~1.4 se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c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|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SciPy: ~0.01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ec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Hyb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ri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d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10,000×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m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accur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a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→ time ju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s</a:t>
            </a:r>
            <a:r>
              <a:rPr lang="en-US" sz="39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tified!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98241" y="95250"/>
            <a:ext cx="1769151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Robustness &amp; Computational Analysis</a:t>
            </a:r>
          </a:p>
          <a:p>
            <a:pPr algn="ctr">
              <a:lnSpc>
                <a:spcPts val="73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36429" y="1790541"/>
            <a:ext cx="8512203" cy="5637131"/>
          </a:xfrm>
          <a:custGeom>
            <a:avLst/>
            <a:gdLst/>
            <a:ahLst/>
            <a:cxnLst/>
            <a:rect r="r" b="b" t="t" l="l"/>
            <a:pathLst>
              <a:path h="5637131" w="8512203">
                <a:moveTo>
                  <a:pt x="0" y="0"/>
                </a:moveTo>
                <a:lnTo>
                  <a:pt x="8512203" y="0"/>
                </a:lnTo>
                <a:lnTo>
                  <a:pt x="8512203" y="5637131"/>
                </a:lnTo>
                <a:lnTo>
                  <a:pt x="0" y="563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3" t="-357" r="-5640" b="-35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790541"/>
            <a:ext cx="9144000" cy="5705411"/>
          </a:xfrm>
          <a:custGeom>
            <a:avLst/>
            <a:gdLst/>
            <a:ahLst/>
            <a:cxnLst/>
            <a:rect r="r" b="b" t="t" l="l"/>
            <a:pathLst>
              <a:path h="5705411" w="9144000">
                <a:moveTo>
                  <a:pt x="0" y="0"/>
                </a:moveTo>
                <a:lnTo>
                  <a:pt x="9144000" y="0"/>
                </a:lnTo>
                <a:lnTo>
                  <a:pt x="9144000" y="5705411"/>
                </a:lnTo>
                <a:lnTo>
                  <a:pt x="0" y="5705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27" t="0" r="-2210" b="-360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000">
            <a:off x="-20121" y="1667818"/>
            <a:ext cx="9184243" cy="5859982"/>
          </a:xfrm>
          <a:custGeom>
            <a:avLst/>
            <a:gdLst/>
            <a:ahLst/>
            <a:cxnLst/>
            <a:rect r="r" b="b" t="t" l="l"/>
            <a:pathLst>
              <a:path h="5859982" w="9184243">
                <a:moveTo>
                  <a:pt x="40465" y="0"/>
                </a:moveTo>
                <a:lnTo>
                  <a:pt x="9184242" y="63836"/>
                </a:lnTo>
                <a:lnTo>
                  <a:pt x="9143777" y="5859982"/>
                </a:lnTo>
                <a:lnTo>
                  <a:pt x="0" y="5796145"/>
                </a:lnTo>
                <a:lnTo>
                  <a:pt x="40465" y="0"/>
                </a:lnTo>
                <a:close/>
              </a:path>
            </a:pathLst>
          </a:custGeom>
          <a:blipFill>
            <a:blip r:embed="rId4"/>
            <a:stretch>
              <a:fillRect l="-8768" t="0" r="-993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8241" y="95250"/>
            <a:ext cx="1769151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Experimental Results (Boxplots)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27072" y="2136594"/>
            <a:ext cx="8286228" cy="5274991"/>
          </a:xfrm>
          <a:custGeom>
            <a:avLst/>
            <a:gdLst/>
            <a:ahLst/>
            <a:cxnLst/>
            <a:rect r="r" b="b" t="t" l="l"/>
            <a:pathLst>
              <a:path h="5274991" w="8286228">
                <a:moveTo>
                  <a:pt x="0" y="0"/>
                </a:moveTo>
                <a:lnTo>
                  <a:pt x="8286228" y="0"/>
                </a:lnTo>
                <a:lnTo>
                  <a:pt x="8286228" y="5274992"/>
                </a:lnTo>
                <a:lnTo>
                  <a:pt x="0" y="5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2" t="0" r="-1657" b="-1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4034" y="2087905"/>
            <a:ext cx="8720483" cy="5372371"/>
          </a:xfrm>
          <a:custGeom>
            <a:avLst/>
            <a:gdLst/>
            <a:ahLst/>
            <a:cxnLst/>
            <a:rect r="r" b="b" t="t" l="l"/>
            <a:pathLst>
              <a:path h="5372371" w="8720483">
                <a:moveTo>
                  <a:pt x="0" y="0"/>
                </a:moveTo>
                <a:lnTo>
                  <a:pt x="8720483" y="0"/>
                </a:lnTo>
                <a:lnTo>
                  <a:pt x="8720483" y="5372371"/>
                </a:lnTo>
                <a:lnTo>
                  <a:pt x="0" y="5372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5" t="0" r="-370" b="-2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17814" y="383336"/>
            <a:ext cx="9452372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Robustness &amp; Convergence</a:t>
            </a:r>
          </a:p>
          <a:p>
            <a:pPr algn="ctr">
              <a:lnSpc>
                <a:spcPts val="73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6230600" cy="849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Main Conclusions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1. AACO strong at global exploration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2. SQP strong at local refinement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3. Hybrid AACO–SQP: Best of both worlds!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  • 10,000× more accurate than pure SciPy (Rosenbrock)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  • 26× more accurate than pure SciPy (Rastrigin)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   • Robust across 30 runs (minimal variance)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Future Research Directions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Constrained optimization (inequality/equality constraints)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Higher dimensions (10D, 20D, 50D)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Statistical hypothesis testing (ANOVA, t-tests)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   • GPU-accelerated implementation (JAX, CUDA)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1843" y="-9525"/>
            <a:ext cx="12305773" cy="120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6"/>
              </a:lnSpc>
              <a:spcBef>
                <a:spcPct val="0"/>
              </a:spcBef>
            </a:pPr>
            <a:r>
              <a:rPr lang="en-US" sz="7880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Conclusions &amp;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363" y="800725"/>
            <a:ext cx="38315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0109" y="2465100"/>
            <a:ext cx="10677124" cy="605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27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[1] M. D</a:t>
            </a:r>
            <a:r>
              <a:rPr lang="en-US" sz="27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origo and T. Stützle, Ant Colony Optimization, Cambridge, MA, USA: MIT Press, 2004.</a:t>
            </a:r>
          </a:p>
          <a:p>
            <a:pPr algn="l">
              <a:lnSpc>
                <a:spcPts val="4843"/>
              </a:lnSpc>
            </a:pPr>
            <a:r>
              <a:rPr lang="en-US" sz="27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[2] K. Socha and M. Dorigo, “Ant colony optimization for continuous domains,” European Journal of Operational Research, vol. 185, no. 3, pp. 1155–1173, Mar. 2008.</a:t>
            </a:r>
          </a:p>
          <a:p>
            <a:pPr algn="l">
              <a:lnSpc>
                <a:spcPts val="4843"/>
              </a:lnSpc>
            </a:pPr>
            <a:r>
              <a:rPr lang="en-US" sz="27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[3] J. Nocedal and S. J. Wright, Numerical Optimization, 2nd ed., New York, NY, USA: Springer, 2006.</a:t>
            </a:r>
          </a:p>
          <a:p>
            <a:pPr algn="l">
              <a:lnSpc>
                <a:spcPts val="4843"/>
              </a:lnSpc>
            </a:pPr>
            <a:r>
              <a:rPr lang="en-US" sz="2799">
                <a:solidFill>
                  <a:srgbClr val="FFFFFF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[4] H. H. Rosenbrock, “An automatic method for finding the greatest or least value of a function,” The Computer Journal, vol. 3, no. 3, pp. 175–184, 1960.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832485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 u="none">
                <a:solidFill>
                  <a:srgbClr val="E0E1DD"/>
                </a:solidFill>
                <a:latin typeface="The Youngest Serif"/>
                <a:ea typeface="The Youngest Serif"/>
                <a:cs typeface="The Youngest Serif"/>
                <a:sym typeface="The Youngest Serif"/>
              </a:rPr>
              <a:t>Thank You for Your Attention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29875" y="8724900"/>
            <a:ext cx="7858125" cy="1562100"/>
            <a:chOff x="0" y="0"/>
            <a:chExt cx="1397000" cy="277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277707"/>
            </a:xfrm>
            <a:custGeom>
              <a:avLst/>
              <a:gdLst/>
              <a:ahLst/>
              <a:cxnLst/>
              <a:rect r="r" b="b" t="t" l="l"/>
              <a:pathLst>
                <a:path h="277707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77707"/>
                  </a:lnTo>
                  <a:lnTo>
                    <a:pt x="0" y="277707"/>
                  </a:lnTo>
                  <a:close/>
                </a:path>
              </a:pathLst>
            </a:custGeom>
            <a:solidFill>
              <a:srgbClr val="4F5D7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97000" cy="334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29875" y="0"/>
            <a:ext cx="7858125" cy="8724900"/>
            <a:chOff x="0" y="0"/>
            <a:chExt cx="1217429" cy="13517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7429" cy="1351715"/>
            </a:xfrm>
            <a:custGeom>
              <a:avLst/>
              <a:gdLst/>
              <a:ahLst/>
              <a:cxnLst/>
              <a:rect r="r" b="b" t="t" l="l"/>
              <a:pathLst>
                <a:path h="1351715" w="1217429">
                  <a:moveTo>
                    <a:pt x="0" y="0"/>
                  </a:moveTo>
                  <a:lnTo>
                    <a:pt x="1217429" y="0"/>
                  </a:lnTo>
                  <a:lnTo>
                    <a:pt x="1217429" y="1351715"/>
                  </a:lnTo>
                  <a:lnTo>
                    <a:pt x="0" y="1351715"/>
                  </a:lnTo>
                  <a:close/>
                </a:path>
              </a:pathLst>
            </a:custGeom>
            <a:blipFill>
              <a:blip r:embed="rId2"/>
              <a:stretch>
                <a:fillRect l="0" t="-245" r="0" b="-2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72950" y="9297988"/>
            <a:ext cx="431482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30 </a:t>
            </a:r>
            <a:r>
              <a:rPr lang="en-US" sz="2000">
                <a:solidFill>
                  <a:srgbClr val="E0E1DD"/>
                </a:solidFill>
                <a:latin typeface="Public Sans"/>
                <a:ea typeface="Public Sans"/>
                <a:cs typeface="Public Sans"/>
                <a:sym typeface="Public Sans"/>
              </a:rPr>
              <a:t>DECEMBER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0E1DD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DAG8-urQ9HA</dc:identifier>
  <dcterms:modified xsi:type="dcterms:W3CDTF">2011-08-01T06:04:30Z</dcterms:modified>
  <cp:revision>1</cp:revision>
  <dc:title>Ahmed Moatasem Ali Mohab Mohamed Darwish Mohamed Tarek Assem aldurni</dc:title>
</cp:coreProperties>
</file>